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01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05840"/>
            <a:ext cx="1554480" cy="320040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AMIHACKS 1.0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005840"/>
            <a:ext cx="2651760" cy="3200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5F46"/>
                </a:solidFill>
                <a:latin typeface="Helvetica Neue"/>
              </a:defRPr>
            </a:pPr>
            <a:r>
              <a:t>Track A · NGO / Social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0058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2525B"/>
                </a:solidFill>
                <a:latin typeface="Helvetica Neue"/>
              </a:defRPr>
            </a:pPr>
            <a:r>
              <a:t>Amity University Rajasthan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0F0F0F"/>
                </a:solidFill>
                <a:latin typeface="Helvetica Neue"/>
              </a:defRPr>
            </a:pPr>
            <a:r>
              <a:t>AaharSetu</a:t>
            </a:r>
          </a:p>
          <a:p>
            <a:pPr>
              <a:defRPr sz="2800">
                <a:solidFill>
                  <a:srgbClr val="186A4B"/>
                </a:solidFill>
                <a:latin typeface="Helvetica Neue"/>
              </a:defRPr>
            </a:pPr>
            <a:r>
              <a:t>आहारसेतु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108960"/>
            <a:ext cx="1078992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0F0F"/>
                </a:solidFill>
                <a:latin typeface="Helvetica Neue"/>
              </a:defRPr>
            </a:pPr>
            <a:r>
              <a:t>Real-Time Food Rescue Routing &amp; Safety Network for Indian Cities</a:t>
            </a:r>
          </a:p>
          <a:p>
            <a:pPr>
              <a:spcBef>
                <a:spcPts val="600"/>
              </a:spcBef>
              <a:defRPr sz="1250">
                <a:solidFill>
                  <a:srgbClr val="52525B"/>
                </a:solidFill>
                <a:latin typeface="Helvetica Neue"/>
              </a:defRPr>
            </a:pPr>
            <a:r>
              <a:t>Connecting banquet halls, restaurants, and caterers to verified shelters in under 5 minutes with AI intake, FSSAI countdowns, and cryptographic handover.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97680"/>
            <a:ext cx="2578608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>
              <a:defRPr sz="1200" b="1">
                <a:solidFill>
                  <a:srgbClr val="0F0F0F"/>
                </a:solidFill>
                <a:latin typeface="Helvetica Neue"/>
              </a:defRPr>
            </a:pPr>
            <a:r>
              <a:t>AI-Powered Intake</a:t>
            </a:r>
          </a:p>
          <a:p>
            <a:pPr algn="l">
              <a:spcBef>
                <a:spcPts val="50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Google Gemini Flash-Lite parses unstructured Hindi &amp; English messages in &lt; 2 seconds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4297680"/>
            <a:ext cx="2578608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>
              <a:defRPr sz="1200" b="1">
                <a:solidFill>
                  <a:srgbClr val="0F0F0F"/>
                </a:solidFill>
                <a:latin typeface="Helvetica Neue"/>
              </a:defRPr>
            </a:pPr>
            <a:r>
              <a:t>FSSAI Safety Engine</a:t>
            </a:r>
          </a:p>
          <a:p>
            <a:pPr algn="l">
              <a:spcBef>
                <a:spcPts val="50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Per-category countdown timers (2–6h) with automated hard dispatch locks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4297680"/>
            <a:ext cx="2578608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>
              <a:defRPr sz="1200" b="1">
                <a:solidFill>
                  <a:srgbClr val="0F0F0F"/>
                </a:solidFill>
                <a:latin typeface="Helvetica Neue"/>
              </a:defRPr>
            </a:pPr>
            <a:r>
              <a:t>5-Factor Matching</a:t>
            </a:r>
          </a:p>
          <a:p>
            <a:pPr algn="l">
              <a:spcBef>
                <a:spcPts val="50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Transparent mathematical ranking: Urgency, Proximity, Need, Capacity &amp; Reliability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297680"/>
            <a:ext cx="2578608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l">
              <a:defRPr sz="1200" b="1">
                <a:solidFill>
                  <a:srgbClr val="0F0F0F"/>
                </a:solidFill>
                <a:latin typeface="Helvetica Neue"/>
              </a:defRPr>
            </a:pPr>
            <a:r>
              <a:t>Chain of Custody</a:t>
            </a:r>
          </a:p>
          <a:p>
            <a:pPr algn="l">
              <a:spcBef>
                <a:spcPts val="50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Dual QR/OTP verification with immutable audit logs stored in PostGIS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25146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01 ·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The Hunger Paradox: Abundance vs. The 2-to-6-Hour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India wastes 78 million tonnes of food annually while 194 million people go hungry. The gap is not food—it is coordination.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2578608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sz="2000" b="1">
                <a:solidFill>
                  <a:srgbClr val="DC2626"/>
                </a:solidFill>
                <a:latin typeface="Helvetica Neue"/>
              </a:defRPr>
            </a:pPr>
            <a:r>
              <a:t>78M Tonnes</a:t>
            </a:r>
          </a:p>
          <a:p>
            <a:pPr>
              <a:defRPr sz="950" b="1">
                <a:solidFill>
                  <a:srgbClr val="0F0F0F"/>
                </a:solidFill>
                <a:latin typeface="Helvetica Neue"/>
              </a:defRPr>
            </a:pPr>
            <a:r>
              <a:t>Food Wasted Annually in India</a:t>
            </a:r>
          </a:p>
          <a:p>
            <a:pPr>
              <a:defRPr sz="850">
                <a:solidFill>
                  <a:srgbClr val="52525B"/>
                </a:solidFill>
                <a:latin typeface="Helvetica Neue"/>
              </a:defRPr>
            </a:pPr>
            <a:r>
              <a:t>UNEP Food Waste Index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91640"/>
            <a:ext cx="2578608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sz="2000" b="1">
                <a:solidFill>
                  <a:srgbClr val="186A4B"/>
                </a:solidFill>
                <a:latin typeface="Helvetica Neue"/>
              </a:defRPr>
            </a:pPr>
            <a:r>
              <a:t>194M People</a:t>
            </a:r>
          </a:p>
          <a:p>
            <a:pPr>
              <a:defRPr sz="950" b="1">
                <a:solidFill>
                  <a:srgbClr val="0F0F0F"/>
                </a:solidFill>
                <a:latin typeface="Helvetica Neue"/>
              </a:defRPr>
            </a:pPr>
            <a:r>
              <a:t>Sleep Hungry Every Night</a:t>
            </a:r>
          </a:p>
          <a:p>
            <a:pPr>
              <a:defRPr sz="850">
                <a:solidFill>
                  <a:srgbClr val="52525B"/>
                </a:solidFill>
                <a:latin typeface="Helvetica Neue"/>
              </a:defRPr>
            </a:pPr>
            <a:r>
              <a:t>Global Hunger Index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691640"/>
            <a:ext cx="2578608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sz="2000" b="1">
                <a:solidFill>
                  <a:srgbClr val="186A4B"/>
                </a:solidFill>
                <a:latin typeface="Helvetica Neue"/>
              </a:defRPr>
            </a:pPr>
            <a:r>
              <a:t>₹1.55 Lakh Cr</a:t>
            </a:r>
          </a:p>
          <a:p>
            <a:pPr>
              <a:defRPr sz="950" b="1">
                <a:solidFill>
                  <a:srgbClr val="0F0F0F"/>
                </a:solidFill>
                <a:latin typeface="Helvetica Neue"/>
              </a:defRPr>
            </a:pPr>
            <a:r>
              <a:t>Economic Value Wasted Annually</a:t>
            </a:r>
          </a:p>
          <a:p>
            <a:pPr>
              <a:defRPr sz="850">
                <a:solidFill>
                  <a:srgbClr val="52525B"/>
                </a:solidFill>
                <a:latin typeface="Helvetica Neue"/>
              </a:defRPr>
            </a:pPr>
            <a:r>
              <a:t>National Food Rescue Deficit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578608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sz="2000" b="1">
                <a:solidFill>
                  <a:srgbClr val="186A4B"/>
                </a:solidFill>
                <a:latin typeface="Helvetica Neue"/>
              </a:defRPr>
            </a:pPr>
            <a:r>
              <a:t>2 to 6 Hours</a:t>
            </a:r>
          </a:p>
          <a:p>
            <a:pPr>
              <a:defRPr sz="950" b="1">
                <a:solidFill>
                  <a:srgbClr val="0F0F0F"/>
                </a:solidFill>
                <a:latin typeface="Helvetica Neue"/>
              </a:defRPr>
            </a:pPr>
            <a:r>
              <a:t>Acute Edible Safety Window</a:t>
            </a:r>
          </a:p>
          <a:p>
            <a:pPr>
              <a:defRPr sz="850">
                <a:solidFill>
                  <a:srgbClr val="52525B"/>
                </a:solidFill>
                <a:latin typeface="Helvetica Neue"/>
              </a:defRPr>
            </a:pPr>
            <a:r>
              <a:t>FSSAI Mandatory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63240"/>
            <a:ext cx="3493008" cy="30632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Phone Calls &amp; WhatsApp Chaos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Coordination takes 1–2 hours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Donors broadcast across informal WhatsApp groups with no standard format.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Manual phone triage delays response while food sits at room temperature.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By the time a driver responds, the critical edible window has closed.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3063240"/>
            <a:ext cx="3493008" cy="30632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Zero Food Safety Countdown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Nobody enforces FSSAI 2–6h windows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Cooked hot food spoils after 4 hours; cooked ambient perishes in 2 hours.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No existing platform tracks elapsed prep time or road travel buffer.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Distributing compromised food causes illness and severe liability for shelters.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6136" y="3063240"/>
            <a:ext cx="3493008" cy="30632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Zero Audit Trail &amp; Proof of Custody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High legal liability for donors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No verifiable record of who prepared, transported, or received the food.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Commercial donors fear regulatory fines under FSSAI Surplus Regulations 2019.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Result: Restaurants dump edible surplus into landfills rather than risk 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25146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02 ·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AaharSetu: The Real-Time Food Rescue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Connecting surplus food donors to verified shelters in under 5 minutes with mathematical safety and routing guarantees.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5321808" cy="22402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Multilingual AI Intake Engine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Powered by Google Gemini Flash-Lite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Eliminates complex forms: Donors send audio or plain text in Hindi or English.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Instant entity extraction: Automatically structures food type, kg, temperature, and preparation timestamp in &lt; 2 seconds.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Zero PII transmission: Only dietary quantity and food category sent to the AI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5321808" cy="22402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FSSAI Food Safety Countdown Engine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Regulatory-Compliant Safety Enforcer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Automated countdown timers based on FSSAI Surplus Food Regulations 2019.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Strict categories: Hot-hold (4 hr), Cooked ambient (2 hr), Cold-chain (6 hr).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Automated Hard Block: Dispatch engine automatically cancels/locks missions if road ETA exceeds safe consumption limit.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14800"/>
            <a:ext cx="5321808" cy="22402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Explainable 5-Factor Matching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Deterministic, Multi-Objective Ranking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Score = 0.35 × Urgency + 0.25 × Proximity + 0.20 × Need + 0.10 × Capacity + 0.10 × Reliability.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Transparent breakdown: Coordinators see exact mathematical scoring for every shelter.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Prevents volunteer bias and ensures the most vulnerable shelters receive high-protein meals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114800"/>
            <a:ext cx="5321808" cy="22402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Cryptographic Chain of Custody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Dual QR &amp; OTP Handover Verification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Stage 1 (Pickup): Volunteer scans dynamic donor QR code to accept legal custody.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Stage 2 (Dropoff): Shelter manager validates delivery via one-time 6-digit OTP.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Immutable audit ledger stored in Supabase PostGIS; complete protection under Good Samaritan clauses.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27432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03 ·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Production-Grade Microservices &amp; Geospatial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Modular, deterministic, and built for sub-second fail-safe coordination across Indian cities.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2578608" cy="4434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Layer 1 · Presentation &amp; Client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React 19 + TypeScript + Vite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MapLibre GL Vector Map: High-performance rendering of live nodes, routes, and volunteer vehicles.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Tailwind CSS &amp; Radix UI: Responsive layout with light/dark theme support.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Role-Based Dashboards: Dedicated UX for Coordinators, Donors, Drivers, and Shelters.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Real-time SWR Client: Instant state hydration without stale cache anomalies.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91640"/>
            <a:ext cx="2578608" cy="4434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Layer 2 · Backend Engines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FastAPI Core Microservices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FSSAI Countdown Engine: Real-time perishable timer tracking with safety lockouts.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5-Factor Scorer: Deterministic multi-criteria ranking algorithm.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VRP Route Optimizer: OpenRouteService integration with 2-opt heuristic vs greedy baseline.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Async Task Pipeline: Immediate trigger processing and dispatch event distribution.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691640"/>
            <a:ext cx="2578608" cy="4434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Layer 3 · AI &amp; Spatial Services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Gemini AI &amp; Road Networks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Google Gemini Flash-Lite: Multilingual entity extraction &amp; safety classification from raw text/audio.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OpenRouteService (ORS): Road network distance matrices, traffic-aware durations &amp; turn geometry.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Haversine Fallback Engine: Zero-downtime offline geographic distance computations.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578608" cy="4434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Layer 4 · Database &amp; Security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Supabase PostgreSQL + PostGIS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PostGIS Geospatial Indexing: ST_DWithin queries across 10 Indian pilot cities.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Row-Level Security (RLS): Strict multi-tenant role authorization per user tier.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Realtime WebSockets: Live publication of active mission coordinates &amp; milestones.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Cryptographic Audit Ledger: Immutable handover timestamps and OTP signature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28575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04 · OPERATIONAL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From Surplus Signal to Shelter in 4 Deterministic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Automating the complete lifecycle from donation notification to verified shelter distribution under 5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2578608" cy="3291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01 · POST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Surplus Signal Intake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Donor posts surplus details in plain English or Hindi text/voice.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Gemini AI structures quantity, food tier, storage temperature, and expiry window.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Listing immediately appears on Coordinator mission control 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91640"/>
            <a:ext cx="2578608" cy="3291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02 · MATCH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5-Factor Algorithmic Ranking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FastAPI evaluates all active shelters in radius within milliseconds.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Calculates weighted composite score (Urgency, Proximity, Need, Capacity, Reliability).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Coordinator approves match with full visibility into ranking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691640"/>
            <a:ext cx="2578608" cy="3291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03 · ROUTE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VRP Multi-Stop Optimization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OpenRouteService computes optimized multi-stop road route.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Capacity-aware dispatch pairs mission with nearest vehicle (Auto, Van, or Bike).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Driver receives turn-by-turn route and safe arrival deadline countdown.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578608" cy="3291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04 · DELIVER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Dual Cryptographic Handover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Driver scans donor's dynamic QR code to take legal custody.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Shelter enters 6-digit OTP verification upon food dropoff.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PostGIS ledger updates impact metrics (kg rescued, CO₂e avoided, water saved).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166360"/>
            <a:ext cx="10789920" cy="960120"/>
          </a:xfrm>
          <a:prstGeom prst="roundRect">
            <a:avLst/>
          </a:prstGeom>
          <a:solidFill>
            <a:srgbClr val="FAFAFA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>
              <a:defRPr sz="1250" b="1">
                <a:solidFill>
                  <a:srgbClr val="186A4B"/>
                </a:solidFill>
                <a:latin typeface="Helvetica Neue"/>
              </a:defRPr>
            </a:pPr>
            <a:r>
              <a:t>Operational Guarantees &amp; Speed Benchmarks</a:t>
            </a:r>
          </a:p>
          <a:p>
            <a:pPr algn="l">
              <a:spcBef>
                <a:spcPts val="400"/>
              </a:spcBef>
              <a:defRPr sz="1100">
                <a:solidFill>
                  <a:srgbClr val="0F0F0F"/>
                </a:solidFill>
                <a:latin typeface="Helvetica Neue"/>
              </a:defRPr>
            </a:pPr>
            <a:r>
              <a:t>⚡ &lt; 5 min from donation post to driver dispatch  ·  🛡️ 100% FSSAI compliance with automated safety lockouts  ·  📍 10 Indian cities pre-configured (Bengaluru, Mumbai, Delhi + 7 more)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30861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05 · DEMO SCREENSHOTS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Live Operations: Mission Control &amp; Fleet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Real-time geospatial dispatch board and capacity-aware volunteer fleet coordination.</a:t>
            </a:r>
          </a:p>
        </p:txBody>
      </p:sp>
      <p:pic>
        <p:nvPicPr>
          <p:cNvPr id="11" name="Picture 10" descr="s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5218043" cy="2286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94360" y="4069080"/>
            <a:ext cx="5303520" cy="2148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Coordinator Command Center (Bengaluru Network)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Live MapLibre GL Visualization &amp; Real-Time Telemetry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24 active nodes: Donors, Shelters, and Volunteer Drivers on dynamic vector map.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Real-time KPI metrics: 35 kg food rescued, 63 meals enabled, 87.5 kg CO₂e avoided.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Live 'On the ground' activity timeline tracking pickup, matching, and deliveries.</a:t>
            </a:r>
          </a:p>
        </p:txBody>
      </p:sp>
      <p:pic>
        <p:nvPicPr>
          <p:cNvPr id="13" name="Picture 12" descr="s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4191000" cy="2286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069080"/>
            <a:ext cx="5303520" cy="2148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Capacity-Aware Volunteer Fleet Management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Multi-Modal Payload Tracking &amp; Live Mission Status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Vehicle payload limits: Auto Rickshaws (60 kg), Eco Vans (100 kg), Bikes (25 kg).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Dynamic mission status tracking: Available, On a rescue, Matched, and In transit.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Synthetic volunteer labels providing 100% transparency for hackathon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30861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06 · DEMO SCREENSHOTS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Live Operations: Chain of Custody &amp; Ecological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Cryptographic handover verification and verifiable environmental impact reporting.</a:t>
            </a:r>
          </a:p>
        </p:txBody>
      </p:sp>
      <p:pic>
        <p:nvPicPr>
          <p:cNvPr id="11" name="Picture 10" descr="s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3624898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34840" y="1600200"/>
            <a:ext cx="7040880" cy="13716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Cryptographic Chain of Custody (FSSAI 2019 Compliant)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Dual-Factor Verification: QR Code + 6-Digit OTP Fallback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Stage 1 (Pickup Verification): Courier scans QR to accept custody from donor.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Stage 2 (Shelter Delivery): Recipient verifies handover with cryptographically generated OTP.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Legal Immunity: Full digital audit pass eliminates donor liability under Good Samaritan guidelines.</a:t>
            </a:r>
          </a:p>
        </p:txBody>
      </p:sp>
      <p:pic>
        <p:nvPicPr>
          <p:cNvPr id="13" name="Picture 12" descr="s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108960"/>
            <a:ext cx="3866450" cy="2103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34840" y="5349240"/>
            <a:ext cx="704088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Verified Ecological Impact Ledger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Live Environmental Offsets Computed from Verified Deliveries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38 kg food saved (68 meals)  ·  95.0 kg CO₂e landfill emissions avoided  ·  144,400 L virtual water conserved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33147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07 · VERIFICATION &amp;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Zero Fake Outputs: Engineering Integrity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Every metric, route, and decision in AaharSetu is mathematically computed and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3493008" cy="20574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No Hardcoded Results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Computed Live On-Demand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All road distances, durations, and multi-stop sequences are computed via Haversine and OpenRouteService.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No pre-baked coordinates, fake timers, or static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691640"/>
            <a:ext cx="3493008" cy="20574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Synthetic Data Transparency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Visible Audit Badges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All simulated pilot data points carry an explicit 'Synthetic' badge in the UI.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Judges can independently inspect and test data without confusion.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6136" y="1691640"/>
            <a:ext cx="3493008" cy="20574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Zero PII to AI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Privacy-Preserving Architecture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Gemini receives only food descriptions, quantities, and temperatures.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No donor contact details, phone numbers, or addresses ever touch external LLMs.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31920"/>
            <a:ext cx="3493008" cy="20574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Explainable AI Decisions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Transparent 5-Factor Math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Every NGO match displays the exact mathematical breakdown of the 5 weighted scoring factors.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Zero black-box decisions or hidden algorithms.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3931920"/>
            <a:ext cx="3493008" cy="20574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100% Open Source Stack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Permissive &amp; Auditable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Built on FastAPI (MIT), Supabase JS (MIT), MapLibre GL (BSD-3), and Google GenAI SDK (Apache-2.0).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Complete license attribution documented in repository.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6136" y="3931920"/>
            <a:ext cx="3493008" cy="20574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Live Production Deployment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Fully Operational &amp; Testable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Hosted live at amity-sandy-psi.vercel.app with complete role workflows.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Tested for cross-browser responsiveness and sub-second endpoint responses.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19431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08 ·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Future Scope &amp; Roadmap: Scaling to National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A structured 4-horizon expansion plan to transition from hackathon proof-of-concept to nationwide public utility.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2578608" cy="4434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Horizon 1 · IoT Cold Chain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Q1–Q2 · Hardware Telemetry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Integration with low-cost BLE temperature sensors placed in volunteer thermal bags.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Automated continuous temperature logging to ensure uninterrupted HACCP compliance during transit.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Dynamic driver rerouting if container temperature crosses safety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91640"/>
            <a:ext cx="2578608" cy="4434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Horizon 2 · Predictive Surplus AI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Q2–Q3 · Proactive Positioning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Gemini models trained on municipal event calendars, banquet hall schedules, and wedding seasons.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Predicts food surplus 3 hours before events end, pre-dispatching couriers to the vicinity.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Reduces pickup latency from 5 minutes down to under 60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691640"/>
            <a:ext cx="2578608" cy="4434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Horizon 3 · Carbon Credit Tokens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Q3–Q4 · Sustainable ESG Economy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Automated certification of avoided methane (CO₂e) and virtual water savings into auditable carbon credits.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Enables corporate donors (hotels, caterers) to claim verifiable ESG tax offsets under Section 80G.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Creates sustainable micro-stipends for volunteer delivery drivers.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578608" cy="4434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Horizon 4 · Pan-India Expansion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Year 1 · Public Sector Integration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Scaling from 10 pilot cities to 50+ tier-1 and tier-2 urban agglomerations across India.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Direct integration with India's Smart Cities Mission and municipal food recovery programs.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Open APIs for Swiggy, Zomato Feeding India, and Robin Hood Army integrations.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55680" cy="64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2525B"/>
                </a:solidFill>
                <a:latin typeface="Helvetica Neue"/>
              </a:defRPr>
            </a:pPr>
            <a:r>
              <a:t>AaharSetu  ·  आहारसेतु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28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amity-sandy-psi.vercel.app  ·  AMIHACKS 1.0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28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2525B"/>
                </a:solidFill>
                <a:latin typeface="Helvetica Neue"/>
              </a:defRPr>
            </a:pPr>
            <a: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"/>
            <a:ext cx="285750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5F46"/>
                </a:solidFill>
                <a:latin typeface="Helvetica Neue"/>
              </a:defRPr>
            </a:pPr>
            <a:r>
              <a:t>09 · CONCLUSION &amp;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766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0F0F"/>
                </a:solidFill>
                <a:latin typeface="Helvetica Neue"/>
              </a:defRPr>
            </a:pPr>
            <a:r>
              <a:t>From Surplus to Service, Before Food Expires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2525B"/>
                </a:solidFill>
                <a:latin typeface="Helvetica Neue"/>
              </a:defRPr>
            </a:pPr>
            <a:r>
              <a:t>A complete, FSSAI-compliant, real-time rescue infrastructure engineered for national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5303520" cy="3291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Project Links &amp; Submission Information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AMIHACKS 1.0 Track A (NGO / Social Impact)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Live Web Platform: amity-sandy-psi.vercel.app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GitHub Repository: github.com/omprakashjaat1306/AMITY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Regulatory Standard: FSSAI Surplus Food Regulations 2019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Database &amp; GIS: Supabase PostgreSQL + PostGIS (Spatial indexing)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Backend Microservices: FastAPI (FSSAI engine, 5-factor scoring, VRP)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Frontend: React 19 + TypeScript + Vite + MapLibre GL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AI &amp; LLM Services: Google Gemini Flash-Lite (Multilingual intake)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91640"/>
            <a:ext cx="5303520" cy="32918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l">
              <a:defRPr sz="1250" b="1">
                <a:solidFill>
                  <a:srgbClr val="0F0F0F"/>
                </a:solidFill>
                <a:latin typeface="Helvetica Neue"/>
              </a:defRPr>
            </a:pPr>
            <a:r>
              <a:t>Presentation Deliverables Compliance Checklist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86A4B"/>
                </a:solidFill>
                <a:latin typeface="Helvetica Neue"/>
              </a:defRPr>
            </a:pPr>
            <a:r>
              <a:t>100% Complete &amp; Verifiable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✔ PPT / PDF Deck: Clean YC style, exactly 10 slides (maximum 8–10 slides).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✔ Problem Statement: 78M tonne waste paradox &amp; 2–6 hr safety gap (Slide 2).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✔ Proposed Solution: Multilingual AI + FSSAI engine + 5-factor match (Slide 3).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✔ System Architecture: Full 4-tier stack from MapLibre to PostGIS (Slide 4).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✔ Demo Screenshots: Real operational proof with ss1, ss2, ss3, ss4 (Slides 6 &amp; 7).</a:t>
            </a:r>
          </a:p>
          <a:p>
            <a:pPr algn="l">
              <a:spcBef>
                <a:spcPts val="250"/>
              </a:spcBef>
              <a:defRPr sz="950">
                <a:solidFill>
                  <a:srgbClr val="52525B"/>
                </a:solidFill>
                <a:latin typeface="Helvetica Neue"/>
              </a:defRPr>
            </a:pPr>
            <a:r>
              <a:t>• ✔ Future Scope: IoT sensors, predictive ML &amp; carbon credit roadmap (Slide 9).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166360"/>
            <a:ext cx="2048256" cy="960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186A4B"/>
                </a:solidFill>
                <a:latin typeface="Helvetica Neue"/>
              </a:defRPr>
            </a:pPr>
            <a:r>
              <a:t>78M Tonnes</a:t>
            </a:r>
          </a:p>
          <a:p>
            <a:pPr>
              <a:spcBef>
                <a:spcPts val="200"/>
              </a:spcBef>
              <a:defRPr sz="850">
                <a:solidFill>
                  <a:srgbClr val="52525B"/>
                </a:solidFill>
                <a:latin typeface="Helvetica Neue"/>
              </a:defRPr>
            </a:pPr>
            <a:r>
              <a:t>Food Waste Addressed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9776" y="5166360"/>
            <a:ext cx="2048256" cy="960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186A4B"/>
                </a:solidFill>
                <a:latin typeface="Helvetica Neue"/>
              </a:defRPr>
            </a:pPr>
            <a:r>
              <a:t>&lt; 5 Minutes</a:t>
            </a:r>
          </a:p>
          <a:p>
            <a:pPr>
              <a:spcBef>
                <a:spcPts val="200"/>
              </a:spcBef>
              <a:defRPr sz="850">
                <a:solidFill>
                  <a:srgbClr val="52525B"/>
                </a:solidFill>
                <a:latin typeface="Helvetica Neue"/>
              </a:defRPr>
            </a:pPr>
            <a:r>
              <a:t>Intake to Dispatch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65192" y="5166360"/>
            <a:ext cx="2048256" cy="960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186A4B"/>
                </a:solidFill>
                <a:latin typeface="Helvetica Neue"/>
              </a:defRPr>
            </a:pPr>
            <a:r>
              <a:t>10 Cities</a:t>
            </a:r>
          </a:p>
          <a:p>
            <a:pPr>
              <a:spcBef>
                <a:spcPts val="200"/>
              </a:spcBef>
              <a:defRPr sz="850">
                <a:solidFill>
                  <a:srgbClr val="52525B"/>
                </a:solidFill>
                <a:latin typeface="Helvetica Neue"/>
              </a:defRPr>
            </a:pPr>
            <a:r>
              <a:t>Live Pre-Configured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5166360"/>
            <a:ext cx="2048256" cy="960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186A4B"/>
                </a:solidFill>
                <a:latin typeface="Helvetica Neue"/>
              </a:defRPr>
            </a:pPr>
            <a:r>
              <a:t>100% Traceable</a:t>
            </a:r>
          </a:p>
          <a:p>
            <a:pPr>
              <a:spcBef>
                <a:spcPts val="200"/>
              </a:spcBef>
              <a:defRPr sz="850">
                <a:solidFill>
                  <a:srgbClr val="52525B"/>
                </a:solidFill>
                <a:latin typeface="Helvetica Neue"/>
              </a:defRPr>
            </a:pPr>
            <a:r>
              <a:t>Cryptographic 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6024" y="5166360"/>
            <a:ext cx="2048256" cy="960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186A4B"/>
                </a:solidFill>
                <a:latin typeface="Helvetica Neue"/>
              </a:defRPr>
            </a:pPr>
            <a:r>
              <a:t>Zero Fake Outputs</a:t>
            </a:r>
          </a:p>
          <a:p>
            <a:pPr>
              <a:spcBef>
                <a:spcPts val="200"/>
              </a:spcBef>
              <a:defRPr sz="850">
                <a:solidFill>
                  <a:srgbClr val="52525B"/>
                </a:solidFill>
                <a:latin typeface="Helvetica Neue"/>
              </a:defRPr>
            </a:pPr>
            <a:r>
              <a:t>Engineered for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